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Poppins Bold" charset="1" panose="00000800000000000000"/>
      <p:regular r:id="rId30"/>
    </p:embeddedFont>
    <p:embeddedFont>
      <p:font typeface="Agrandir Bold" charset="1" panose="00000800000000000000"/>
      <p:regular r:id="rId31"/>
    </p:embeddedFont>
    <p:embeddedFont>
      <p:font typeface="Poppins" charset="1" panose="00000500000000000000"/>
      <p:regular r:id="rId32"/>
    </p:embeddedFont>
    <p:embeddedFont>
      <p:font typeface="Glacial Indifference" charset="1" panose="00000000000000000000"/>
      <p:regular r:id="rId33"/>
    </p:embeddedFont>
    <p:embeddedFont>
      <p:font typeface="Glacial Indifference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877542" y="3811352"/>
            <a:ext cx="7128495" cy="6558215"/>
          </a:xfrm>
          <a:custGeom>
            <a:avLst/>
            <a:gdLst/>
            <a:ahLst/>
            <a:cxnLst/>
            <a:rect r="r" b="b" t="t" l="l"/>
            <a:pathLst>
              <a:path h="6558215" w="7128495">
                <a:moveTo>
                  <a:pt x="0" y="0"/>
                </a:moveTo>
                <a:lnTo>
                  <a:pt x="7128495" y="0"/>
                </a:lnTo>
                <a:lnTo>
                  <a:pt x="7128495" y="6558215"/>
                </a:lnTo>
                <a:lnTo>
                  <a:pt x="0" y="655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5989328" y="-1327569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80430" y="-1327569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519343" y="-2935783"/>
            <a:ext cx="4442323" cy="4442323"/>
          </a:xfrm>
          <a:custGeom>
            <a:avLst/>
            <a:gdLst/>
            <a:ahLst/>
            <a:cxnLst/>
            <a:rect r="r" b="b" t="t" l="l"/>
            <a:pathLst>
              <a:path h="4442323" w="4442323">
                <a:moveTo>
                  <a:pt x="4442323" y="0"/>
                </a:moveTo>
                <a:lnTo>
                  <a:pt x="0" y="0"/>
                </a:lnTo>
                <a:lnTo>
                  <a:pt x="0" y="4442323"/>
                </a:lnTo>
                <a:lnTo>
                  <a:pt x="4442323" y="4442323"/>
                </a:lnTo>
                <a:lnTo>
                  <a:pt x="44423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579" y="1308961"/>
            <a:ext cx="3335151" cy="3335151"/>
          </a:xfrm>
          <a:custGeom>
            <a:avLst/>
            <a:gdLst/>
            <a:ahLst/>
            <a:cxnLst/>
            <a:rect r="r" b="b" t="t" l="l"/>
            <a:pathLst>
              <a:path h="3335151" w="3335151">
                <a:moveTo>
                  <a:pt x="0" y="0"/>
                </a:moveTo>
                <a:lnTo>
                  <a:pt x="3335152" y="0"/>
                </a:lnTo>
                <a:lnTo>
                  <a:pt x="3335152" y="3335151"/>
                </a:lnTo>
                <a:lnTo>
                  <a:pt x="0" y="33351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38713" y="740612"/>
            <a:ext cx="7049287" cy="1136698"/>
          </a:xfrm>
          <a:custGeom>
            <a:avLst/>
            <a:gdLst/>
            <a:ahLst/>
            <a:cxnLst/>
            <a:rect r="r" b="b" t="t" l="l"/>
            <a:pathLst>
              <a:path h="1136698" w="7049287">
                <a:moveTo>
                  <a:pt x="0" y="0"/>
                </a:moveTo>
                <a:lnTo>
                  <a:pt x="7049287" y="0"/>
                </a:lnTo>
                <a:lnTo>
                  <a:pt x="7049287" y="1136698"/>
                </a:lnTo>
                <a:lnTo>
                  <a:pt x="0" y="11366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4978" y="5425454"/>
            <a:ext cx="9423558" cy="185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0"/>
              </a:lnSpc>
              <a:spcBef>
                <a:spcPct val="0"/>
              </a:spcBef>
            </a:pPr>
            <a:r>
              <a:rPr lang="en-US" b="true" sz="64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Prédiction</a:t>
            </a:r>
            <a:r>
              <a:rPr lang="en-US" b="true" sz="64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64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du volume de  Trafic Routier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61525" y="2368461"/>
            <a:ext cx="4031025" cy="73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5"/>
              </a:lnSpc>
              <a:spcBef>
                <a:spcPct val="0"/>
              </a:spcBef>
            </a:pPr>
            <a:r>
              <a:rPr lang="en-US" b="true" sz="4259">
                <a:solidFill>
                  <a:srgbClr val="073C7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TRAFFIC LENS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4978" y="8350660"/>
            <a:ext cx="2303859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Présenté par:       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Balmir Maryame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Firdaouss Zai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Soulaimi Ahlam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57117" y="8377330"/>
            <a:ext cx="213074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Encadré </a:t>
            </a: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par: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Pr. Sara El-Ateif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6036504" y="4427707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431175" y="4427707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945790" y="721555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3471731" y="2968111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0945790" y="4427707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6036504" y="721555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431175" y="721555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833626" y="2403757"/>
            <a:ext cx="1340943" cy="134094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E1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627910" y="2403757"/>
            <a:ext cx="1340943" cy="134094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E1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27910" y="6251732"/>
            <a:ext cx="1340943" cy="134094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E1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829232" y="2624114"/>
            <a:ext cx="938298" cy="900229"/>
          </a:xfrm>
          <a:custGeom>
            <a:avLst/>
            <a:gdLst/>
            <a:ahLst/>
            <a:cxnLst/>
            <a:rect r="r" b="b" t="t" l="l"/>
            <a:pathLst>
              <a:path h="900229" w="938298">
                <a:moveTo>
                  <a:pt x="0" y="0"/>
                </a:moveTo>
                <a:lnTo>
                  <a:pt x="938298" y="0"/>
                </a:lnTo>
                <a:lnTo>
                  <a:pt x="938298" y="900229"/>
                </a:lnTo>
                <a:lnTo>
                  <a:pt x="0" y="90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899404" y="6474372"/>
            <a:ext cx="797954" cy="895663"/>
          </a:xfrm>
          <a:custGeom>
            <a:avLst/>
            <a:gdLst/>
            <a:ahLst/>
            <a:cxnLst/>
            <a:rect r="r" b="b" t="t" l="l"/>
            <a:pathLst>
              <a:path h="895663" w="797954">
                <a:moveTo>
                  <a:pt x="0" y="0"/>
                </a:moveTo>
                <a:lnTo>
                  <a:pt x="797954" y="0"/>
                </a:lnTo>
                <a:lnTo>
                  <a:pt x="797954" y="895663"/>
                </a:lnTo>
                <a:lnTo>
                  <a:pt x="0" y="8956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833626" y="6251732"/>
            <a:ext cx="1340943" cy="134094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E1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814404" y="8161078"/>
            <a:ext cx="2887065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Résultats et</a:t>
            </a: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Évaluation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76253" y="4359356"/>
            <a:ext cx="3654813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Do</a:t>
            </a: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nnées et Prétraitement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86872" y="8161078"/>
            <a:ext cx="3244194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</a:t>
            </a: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on Web</a:t>
            </a: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Développée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6129" y="4359356"/>
            <a:ext cx="4204504" cy="100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1"/>
              </a:lnSpc>
              <a:spcBef>
                <a:spcPct val="0"/>
              </a:spcBef>
            </a:pPr>
            <a:r>
              <a:rPr lang="en-US" b="true" sz="28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8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roblématique et Contexte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742912" y="6251732"/>
            <a:ext cx="1340943" cy="134094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E1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42912" y="2403757"/>
            <a:ext cx="1340943" cy="134094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E1FB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2989550" y="2685906"/>
            <a:ext cx="847665" cy="776644"/>
          </a:xfrm>
          <a:custGeom>
            <a:avLst/>
            <a:gdLst/>
            <a:ahLst/>
            <a:cxnLst/>
            <a:rect r="r" b="b" t="t" l="l"/>
            <a:pathLst>
              <a:path h="776644" w="847665">
                <a:moveTo>
                  <a:pt x="0" y="0"/>
                </a:moveTo>
                <a:lnTo>
                  <a:pt x="847666" y="0"/>
                </a:lnTo>
                <a:lnTo>
                  <a:pt x="847666" y="776645"/>
                </a:lnTo>
                <a:lnTo>
                  <a:pt x="0" y="776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988674" y="6513232"/>
            <a:ext cx="848542" cy="817943"/>
          </a:xfrm>
          <a:custGeom>
            <a:avLst/>
            <a:gdLst/>
            <a:ahLst/>
            <a:cxnLst/>
            <a:rect r="r" b="b" t="t" l="l"/>
            <a:pathLst>
              <a:path h="817943" w="848542">
                <a:moveTo>
                  <a:pt x="0" y="0"/>
                </a:moveTo>
                <a:lnTo>
                  <a:pt x="848542" y="0"/>
                </a:lnTo>
                <a:lnTo>
                  <a:pt x="848542" y="817943"/>
                </a:lnTo>
                <a:lnTo>
                  <a:pt x="0" y="8179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782818" y="4359356"/>
            <a:ext cx="3260254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Mo</a:t>
            </a: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dèl</a:t>
            </a: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es et Méthodologie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96158" y="8161078"/>
            <a:ext cx="2834451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Con</a:t>
            </a: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clusion et</a:t>
            </a: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Perspectives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64278" y="584482"/>
            <a:ext cx="274090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Plan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8077211" y="6447693"/>
            <a:ext cx="800927" cy="883482"/>
          </a:xfrm>
          <a:custGeom>
            <a:avLst/>
            <a:gdLst/>
            <a:ahLst/>
            <a:cxnLst/>
            <a:rect r="r" b="b" t="t" l="l"/>
            <a:pathLst>
              <a:path h="883482" w="800927">
                <a:moveTo>
                  <a:pt x="0" y="0"/>
                </a:moveTo>
                <a:lnTo>
                  <a:pt x="800927" y="0"/>
                </a:lnTo>
                <a:lnTo>
                  <a:pt x="800927" y="883482"/>
                </a:lnTo>
                <a:lnTo>
                  <a:pt x="0" y="883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082000" y="2672077"/>
            <a:ext cx="844195" cy="790474"/>
          </a:xfrm>
          <a:custGeom>
            <a:avLst/>
            <a:gdLst/>
            <a:ahLst/>
            <a:cxnLst/>
            <a:rect r="r" b="b" t="t" l="l"/>
            <a:pathLst>
              <a:path h="790474" w="844195">
                <a:moveTo>
                  <a:pt x="0" y="0"/>
                </a:moveTo>
                <a:lnTo>
                  <a:pt x="844195" y="0"/>
                </a:lnTo>
                <a:lnTo>
                  <a:pt x="844195" y="790474"/>
                </a:lnTo>
                <a:lnTo>
                  <a:pt x="0" y="7904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459" y="1405097"/>
            <a:ext cx="752191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1- Prob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l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ém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a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i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que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 C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n</a:t>
            </a:r>
            <a:r>
              <a:rPr lang="en-US" b="true" sz="6000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texte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27317" y="1716096"/>
            <a:ext cx="6083938" cy="2241852"/>
            <a:chOff x="0" y="0"/>
            <a:chExt cx="1602393" cy="5904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393" cy="590477"/>
            </a:xfrm>
            <a:custGeom>
              <a:avLst/>
              <a:gdLst/>
              <a:ahLst/>
              <a:cxnLst/>
              <a:rect r="r" b="b" t="t" l="l"/>
              <a:pathLst>
                <a:path h="590477" w="1602393">
                  <a:moveTo>
                    <a:pt x="1602393" y="19088"/>
                  </a:moveTo>
                  <a:lnTo>
                    <a:pt x="1602393" y="571389"/>
                  </a:lnTo>
                  <a:cubicBezTo>
                    <a:pt x="1602393" y="581931"/>
                    <a:pt x="1593847" y="590477"/>
                    <a:pt x="1583305" y="590477"/>
                  </a:cubicBezTo>
                  <a:lnTo>
                    <a:pt x="19088" y="590477"/>
                  </a:lnTo>
                  <a:cubicBezTo>
                    <a:pt x="8546" y="590477"/>
                    <a:pt x="0" y="581931"/>
                    <a:pt x="0" y="571389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02393" cy="647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72297" y="6007335"/>
            <a:ext cx="6083938" cy="2241852"/>
            <a:chOff x="0" y="0"/>
            <a:chExt cx="1602393" cy="5904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393" cy="590477"/>
            </a:xfrm>
            <a:custGeom>
              <a:avLst/>
              <a:gdLst/>
              <a:ahLst/>
              <a:cxnLst/>
              <a:rect r="r" b="b" t="t" l="l"/>
              <a:pathLst>
                <a:path h="590477" w="1602393">
                  <a:moveTo>
                    <a:pt x="1602393" y="19088"/>
                  </a:moveTo>
                  <a:lnTo>
                    <a:pt x="1602393" y="571389"/>
                  </a:lnTo>
                  <a:cubicBezTo>
                    <a:pt x="1602393" y="581931"/>
                    <a:pt x="1593847" y="590477"/>
                    <a:pt x="1583305" y="590477"/>
                  </a:cubicBezTo>
                  <a:lnTo>
                    <a:pt x="19088" y="590477"/>
                  </a:lnTo>
                  <a:cubicBezTo>
                    <a:pt x="8546" y="590477"/>
                    <a:pt x="0" y="581931"/>
                    <a:pt x="0" y="571389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02393" cy="647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27317" y="5986930"/>
            <a:ext cx="6083938" cy="2241852"/>
            <a:chOff x="0" y="0"/>
            <a:chExt cx="1602393" cy="5904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393" cy="590477"/>
            </a:xfrm>
            <a:custGeom>
              <a:avLst/>
              <a:gdLst/>
              <a:ahLst/>
              <a:cxnLst/>
              <a:rect r="r" b="b" t="t" l="l"/>
              <a:pathLst>
                <a:path h="590477" w="1602393">
                  <a:moveTo>
                    <a:pt x="1602393" y="19088"/>
                  </a:moveTo>
                  <a:lnTo>
                    <a:pt x="1602393" y="571389"/>
                  </a:lnTo>
                  <a:cubicBezTo>
                    <a:pt x="1602393" y="581931"/>
                    <a:pt x="1593847" y="590477"/>
                    <a:pt x="1583305" y="590477"/>
                  </a:cubicBezTo>
                  <a:lnTo>
                    <a:pt x="19088" y="590477"/>
                  </a:lnTo>
                  <a:cubicBezTo>
                    <a:pt x="8546" y="590477"/>
                    <a:pt x="0" y="581931"/>
                    <a:pt x="0" y="571389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02393" cy="647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780160" y="2816617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596176" y="2816617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4685919" y="2816617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79" y="0"/>
                </a:lnTo>
                <a:lnTo>
                  <a:pt x="727679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6895460" y="2816617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2871058" y="2816617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79" y="0"/>
                </a:lnTo>
                <a:lnTo>
                  <a:pt x="727679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8780160" y="2816617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780160" y="6931417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780160" y="-1302855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5"/>
                </a:lnTo>
                <a:lnTo>
                  <a:pt x="0" y="4653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696147" y="2415065"/>
            <a:ext cx="5546278" cy="167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Augmentation </a:t>
            </a: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constante du trafic urbain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Nécessité de planifier les déplacements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Réduction des pertes de temps et de pollution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696147" y="1985487"/>
            <a:ext cx="53177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CF5F5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95547" y="6807443"/>
            <a:ext cx="5284514" cy="13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Comment prédire avec précision l</a:t>
            </a: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e volume de trafic ?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Quels facteurs influencent le trafic ?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95547" y="6273968"/>
            <a:ext cx="503743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CF5F5"/>
                </a:solidFill>
                <a:latin typeface="Poppins Bold"/>
                <a:ea typeface="Poppins Bold"/>
                <a:cs typeface="Poppins Bold"/>
                <a:sym typeface="Poppins Bold"/>
              </a:rPr>
              <a:t>Pr</a:t>
            </a:r>
            <a:r>
              <a:rPr lang="en-US" b="true" sz="2100">
                <a:solidFill>
                  <a:srgbClr val="FCF5F5"/>
                </a:solidFill>
                <a:latin typeface="Poppins Bold"/>
                <a:ea typeface="Poppins Bold"/>
                <a:cs typeface="Poppins Bold"/>
                <a:sym typeface="Poppins Bold"/>
              </a:rPr>
              <a:t>oblématique 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96147" y="6807443"/>
            <a:ext cx="5546278" cy="13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Développer u</a:t>
            </a: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n modèle prédictif fiable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Créer une application utilisable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Atteindre une précision &gt; 95%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696147" y="6273968"/>
            <a:ext cx="531777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CF5F5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Objectifs 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560917"/>
            <a:ext cx="4829085" cy="4697383"/>
          </a:xfrm>
          <a:custGeom>
            <a:avLst/>
            <a:gdLst/>
            <a:ahLst/>
            <a:cxnLst/>
            <a:rect r="r" b="b" t="t" l="l"/>
            <a:pathLst>
              <a:path h="4697383" w="4829085">
                <a:moveTo>
                  <a:pt x="0" y="0"/>
                </a:moveTo>
                <a:lnTo>
                  <a:pt x="4829085" y="0"/>
                </a:lnTo>
                <a:lnTo>
                  <a:pt x="4829085" y="4697383"/>
                </a:lnTo>
                <a:lnTo>
                  <a:pt x="0" y="4697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95771" y="3132807"/>
            <a:ext cx="11173167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2-  Do</a:t>
            </a:r>
            <a:r>
              <a:rPr lang="en-US" b="true" sz="51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nnées et Prétraitement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0566" y="1842210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5"/>
                </a:lnTo>
                <a:lnTo>
                  <a:pt x="0" y="4653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43785">
            <a:off x="-1803660" y="4069120"/>
            <a:ext cx="4539624" cy="4223274"/>
          </a:xfrm>
          <a:custGeom>
            <a:avLst/>
            <a:gdLst/>
            <a:ahLst/>
            <a:cxnLst/>
            <a:rect r="r" b="b" t="t" l="l"/>
            <a:pathLst>
              <a:path h="4223274" w="4539624">
                <a:moveTo>
                  <a:pt x="0" y="0"/>
                </a:moveTo>
                <a:lnTo>
                  <a:pt x="4539624" y="0"/>
                </a:lnTo>
                <a:lnTo>
                  <a:pt x="4539624" y="4223274"/>
                </a:lnTo>
                <a:lnTo>
                  <a:pt x="0" y="4223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63021" y="4157438"/>
            <a:ext cx="4786733" cy="4830648"/>
          </a:xfrm>
          <a:custGeom>
            <a:avLst/>
            <a:gdLst/>
            <a:ahLst/>
            <a:cxnLst/>
            <a:rect r="r" b="b" t="t" l="l"/>
            <a:pathLst>
              <a:path h="4830648" w="4786733">
                <a:moveTo>
                  <a:pt x="0" y="0"/>
                </a:moveTo>
                <a:lnTo>
                  <a:pt x="4786733" y="0"/>
                </a:lnTo>
                <a:lnTo>
                  <a:pt x="4786733" y="4830648"/>
                </a:lnTo>
                <a:lnTo>
                  <a:pt x="0" y="4830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23091" y="5871618"/>
            <a:ext cx="3866593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Période couver</a:t>
            </a:r>
            <a:r>
              <a:rPr lang="en-US" sz="1800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te : Octobre 2012 - Septembre 2018 (6 ans)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Fréquence : Horaire (1 observation par heure)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Taille initiale : 48,204 observations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Format : Fichier CSV (31 MB)</a:t>
            </a:r>
          </a:p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961709" y="5037366"/>
            <a:ext cx="367609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ractér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st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ique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 du Da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tas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6559" y="771759"/>
            <a:ext cx="16559658" cy="78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0"/>
              </a:lnSpc>
              <a:spcBef>
                <a:spcPct val="0"/>
              </a:spcBef>
            </a:pPr>
            <a:r>
              <a:rPr lang="en-US" b="true" sz="52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Source des données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08608" y="4169092"/>
            <a:ext cx="4775185" cy="4818994"/>
          </a:xfrm>
          <a:custGeom>
            <a:avLst/>
            <a:gdLst/>
            <a:ahLst/>
            <a:cxnLst/>
            <a:rect r="r" b="b" t="t" l="l"/>
            <a:pathLst>
              <a:path h="4818994" w="4775185">
                <a:moveTo>
                  <a:pt x="0" y="0"/>
                </a:moveTo>
                <a:lnTo>
                  <a:pt x="4775185" y="0"/>
                </a:lnTo>
                <a:lnTo>
                  <a:pt x="4775185" y="4818994"/>
                </a:lnTo>
                <a:lnTo>
                  <a:pt x="0" y="48189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29767" y="5859964"/>
            <a:ext cx="4080037" cy="13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Source : Kaggle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Localisation : Minneapolis et Saint Paul</a:t>
            </a:r>
          </a:p>
          <a:p>
            <a:pPr algn="l" marL="0" indent="0" lvl="1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332797" y="5223104"/>
            <a:ext cx="312680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Sou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rc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O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ine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7605282" y="1842210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79" y="0"/>
                </a:lnTo>
                <a:lnTo>
                  <a:pt x="727679" y="4653765"/>
                </a:lnTo>
                <a:lnTo>
                  <a:pt x="0" y="4653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2060803" y="1842210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5"/>
                </a:lnTo>
                <a:lnTo>
                  <a:pt x="0" y="4653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13278764" y="1842210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5"/>
                </a:lnTo>
                <a:lnTo>
                  <a:pt x="0" y="4653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5400000">
            <a:off x="15606985" y="3964487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1"/>
                </a:moveTo>
                <a:lnTo>
                  <a:pt x="4714206" y="4385691"/>
                </a:lnTo>
                <a:lnTo>
                  <a:pt x="4714206" y="0"/>
                </a:lnTo>
                <a:lnTo>
                  <a:pt x="0" y="0"/>
                </a:lnTo>
                <a:lnTo>
                  <a:pt x="0" y="438569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535499" y="4157438"/>
            <a:ext cx="4786733" cy="4830648"/>
          </a:xfrm>
          <a:custGeom>
            <a:avLst/>
            <a:gdLst/>
            <a:ahLst/>
            <a:cxnLst/>
            <a:rect r="r" b="b" t="t" l="l"/>
            <a:pathLst>
              <a:path h="4830648" w="4786733">
                <a:moveTo>
                  <a:pt x="0" y="0"/>
                </a:moveTo>
                <a:lnTo>
                  <a:pt x="4786733" y="0"/>
                </a:lnTo>
                <a:lnTo>
                  <a:pt x="4786733" y="4830648"/>
                </a:lnTo>
                <a:lnTo>
                  <a:pt x="0" y="4830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090818" y="5037366"/>
            <a:ext cx="367609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V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ar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bles D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is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pon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ibles 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(Br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ute</a:t>
            </a:r>
            <a:r>
              <a:rPr lang="en-US" b="true" sz="21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95569" y="5859964"/>
            <a:ext cx="3866593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Cible : traffic_volume (véh</a:t>
            </a:r>
            <a:r>
              <a:rPr lang="en-US" sz="1800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icules/heure)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800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emporelles : date_time, holiday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1800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étéo : température, pluie, neige, nuages, conditions générales, description méteo</a:t>
            </a:r>
          </a:p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35003"/>
            <a:ext cx="12774812" cy="7702809"/>
          </a:xfrm>
          <a:custGeom>
            <a:avLst/>
            <a:gdLst/>
            <a:ahLst/>
            <a:cxnLst/>
            <a:rect r="r" b="b" t="t" l="l"/>
            <a:pathLst>
              <a:path h="7702809" w="12774812">
                <a:moveTo>
                  <a:pt x="0" y="0"/>
                </a:moveTo>
                <a:lnTo>
                  <a:pt x="12774812" y="0"/>
                </a:lnTo>
                <a:lnTo>
                  <a:pt x="12774812" y="7702810"/>
                </a:lnTo>
                <a:lnTo>
                  <a:pt x="0" y="7702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" r="-1332" b="-1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01400" y="3856763"/>
            <a:ext cx="4708594" cy="1929645"/>
          </a:xfrm>
          <a:custGeom>
            <a:avLst/>
            <a:gdLst/>
            <a:ahLst/>
            <a:cxnLst/>
            <a:rect r="r" b="b" t="t" l="l"/>
            <a:pathLst>
              <a:path h="1929645" w="4708594">
                <a:moveTo>
                  <a:pt x="0" y="0"/>
                </a:moveTo>
                <a:lnTo>
                  <a:pt x="4708594" y="0"/>
                </a:lnTo>
                <a:lnTo>
                  <a:pt x="4708594" y="1929645"/>
                </a:lnTo>
                <a:lnTo>
                  <a:pt x="0" y="19296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74812" y="7006545"/>
            <a:ext cx="1346065" cy="1346065"/>
          </a:xfrm>
          <a:custGeom>
            <a:avLst/>
            <a:gdLst/>
            <a:ahLst/>
            <a:cxnLst/>
            <a:rect r="r" b="b" t="t" l="l"/>
            <a:pathLst>
              <a:path h="1346065" w="1346065">
                <a:moveTo>
                  <a:pt x="0" y="0"/>
                </a:moveTo>
                <a:lnTo>
                  <a:pt x="1346065" y="0"/>
                </a:lnTo>
                <a:lnTo>
                  <a:pt x="1346065" y="1346065"/>
                </a:lnTo>
                <a:lnTo>
                  <a:pt x="0" y="13460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0889" y="342899"/>
            <a:ext cx="13166570" cy="78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0"/>
              </a:lnSpc>
              <a:spcBef>
                <a:spcPct val="0"/>
              </a:spcBef>
            </a:pPr>
            <a:r>
              <a:rPr lang="en-US" b="true" sz="52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Exploration des données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74812" y="2879550"/>
            <a:ext cx="5513188" cy="113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 week-end montre une baisse significative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56148" y="6680326"/>
            <a:ext cx="4107691" cy="167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 trafic est fortement lié aux habitudes professionnelles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65172"/>
            <a:ext cx="15739474" cy="7397553"/>
          </a:xfrm>
          <a:custGeom>
            <a:avLst/>
            <a:gdLst/>
            <a:ahLst/>
            <a:cxnLst/>
            <a:rect r="r" b="b" t="t" l="l"/>
            <a:pathLst>
              <a:path h="7397553" w="15739474">
                <a:moveTo>
                  <a:pt x="0" y="0"/>
                </a:moveTo>
                <a:lnTo>
                  <a:pt x="15739474" y="0"/>
                </a:lnTo>
                <a:lnTo>
                  <a:pt x="15739474" y="7397552"/>
                </a:lnTo>
                <a:lnTo>
                  <a:pt x="0" y="7397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79775" y="7586074"/>
            <a:ext cx="2056103" cy="1076650"/>
          </a:xfrm>
          <a:custGeom>
            <a:avLst/>
            <a:gdLst/>
            <a:ahLst/>
            <a:cxnLst/>
            <a:rect r="r" b="b" t="t" l="l"/>
            <a:pathLst>
              <a:path h="1076650" w="2056103">
                <a:moveTo>
                  <a:pt x="0" y="0"/>
                </a:moveTo>
                <a:lnTo>
                  <a:pt x="2056102" y="0"/>
                </a:lnTo>
                <a:lnTo>
                  <a:pt x="2056102" y="1076650"/>
                </a:lnTo>
                <a:lnTo>
                  <a:pt x="0" y="107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7549">
            <a:off x="11775027" y="7683547"/>
            <a:ext cx="2037601" cy="1066962"/>
          </a:xfrm>
          <a:custGeom>
            <a:avLst/>
            <a:gdLst/>
            <a:ahLst/>
            <a:cxnLst/>
            <a:rect r="r" b="b" t="t" l="l"/>
            <a:pathLst>
              <a:path h="1066962" w="2037601">
                <a:moveTo>
                  <a:pt x="0" y="0"/>
                </a:moveTo>
                <a:lnTo>
                  <a:pt x="2037602" y="0"/>
                </a:lnTo>
                <a:lnTo>
                  <a:pt x="2037602" y="1066962"/>
                </a:lnTo>
                <a:lnTo>
                  <a:pt x="0" y="1066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4262" y="9647037"/>
            <a:ext cx="6603564" cy="472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6323" indent="-298161" lvl="1">
              <a:lnSpc>
                <a:spcPts val="3866"/>
              </a:lnSpc>
              <a:buFont typeface="Arial"/>
              <a:buChar char="•"/>
            </a:pPr>
            <a:r>
              <a:rPr lang="en-US" sz="2762">
                <a:solidFill>
                  <a:srgbClr val="1D1D1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Trafic très faible la nuit (de minuit à 4h).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4262" y="8993388"/>
            <a:ext cx="11739562" cy="47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7131" indent="-298565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1D1D1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Les plus gros embouteillages se produisent le matin et en fin d’après-midi.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8379" y="238760"/>
            <a:ext cx="13166570" cy="78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0"/>
              </a:lnSpc>
              <a:spcBef>
                <a:spcPct val="0"/>
              </a:spcBef>
            </a:pPr>
            <a:r>
              <a:rPr lang="en-US" b="true" sz="52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Exploration des données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6750" y="1028700"/>
            <a:ext cx="14088682" cy="8400377"/>
          </a:xfrm>
          <a:custGeom>
            <a:avLst/>
            <a:gdLst/>
            <a:ahLst/>
            <a:cxnLst/>
            <a:rect r="r" b="b" t="t" l="l"/>
            <a:pathLst>
              <a:path h="8400377" w="14088682">
                <a:moveTo>
                  <a:pt x="0" y="0"/>
                </a:moveTo>
                <a:lnTo>
                  <a:pt x="14088682" y="0"/>
                </a:lnTo>
                <a:lnTo>
                  <a:pt x="14088682" y="8400377"/>
                </a:lnTo>
                <a:lnTo>
                  <a:pt x="0" y="8400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750" y="9429077"/>
            <a:ext cx="709737" cy="857923"/>
          </a:xfrm>
          <a:custGeom>
            <a:avLst/>
            <a:gdLst/>
            <a:ahLst/>
            <a:cxnLst/>
            <a:rect r="r" b="b" t="t" l="l"/>
            <a:pathLst>
              <a:path h="857923" w="709737">
                <a:moveTo>
                  <a:pt x="0" y="0"/>
                </a:moveTo>
                <a:lnTo>
                  <a:pt x="709737" y="0"/>
                </a:lnTo>
                <a:lnTo>
                  <a:pt x="709737" y="857923"/>
                </a:lnTo>
                <a:lnTo>
                  <a:pt x="0" y="857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87720" y="9620849"/>
            <a:ext cx="13295089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Les jours fériés ont beaucoup moins de trafic que les jours normaux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0889" y="238760"/>
            <a:ext cx="13166570" cy="78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0"/>
              </a:lnSpc>
              <a:spcBef>
                <a:spcPct val="0"/>
              </a:spcBef>
            </a:pPr>
            <a:r>
              <a:rPr lang="en-US" b="true" sz="52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Exploration des données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2166" y="1119344"/>
            <a:ext cx="16467134" cy="8048312"/>
          </a:xfrm>
          <a:custGeom>
            <a:avLst/>
            <a:gdLst/>
            <a:ahLst/>
            <a:cxnLst/>
            <a:rect r="r" b="b" t="t" l="l"/>
            <a:pathLst>
              <a:path h="8048312" w="16467134">
                <a:moveTo>
                  <a:pt x="0" y="0"/>
                </a:moveTo>
                <a:lnTo>
                  <a:pt x="16467134" y="0"/>
                </a:lnTo>
                <a:lnTo>
                  <a:pt x="16467134" y="8048312"/>
                </a:lnTo>
                <a:lnTo>
                  <a:pt x="0" y="804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1408" y="9369620"/>
            <a:ext cx="15665185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Les conditions météorologiques ont un impact direct sur le trafic. Les conditions extrêmes réduisent fortement la circulation, ce qui rend la météo essentielle dans la prédiction du trafic.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5909" y="72229"/>
            <a:ext cx="13166570" cy="78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0"/>
              </a:lnSpc>
              <a:spcBef>
                <a:spcPct val="0"/>
              </a:spcBef>
            </a:pPr>
            <a:r>
              <a:rPr lang="en-US" b="true" sz="52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Exploration des données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27081" y="6541464"/>
            <a:ext cx="5340878" cy="2362528"/>
            <a:chOff x="0" y="0"/>
            <a:chExt cx="1223245" cy="541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3245" cy="541115"/>
            </a:xfrm>
            <a:custGeom>
              <a:avLst/>
              <a:gdLst/>
              <a:ahLst/>
              <a:cxnLst/>
              <a:rect r="r" b="b" t="t" l="l"/>
              <a:pathLst>
                <a:path h="541115" w="1223245">
                  <a:moveTo>
                    <a:pt x="1223245" y="21743"/>
                  </a:moveTo>
                  <a:lnTo>
                    <a:pt x="1223245" y="519371"/>
                  </a:lnTo>
                  <a:cubicBezTo>
                    <a:pt x="1223245" y="525138"/>
                    <a:pt x="1220954" y="530668"/>
                    <a:pt x="1216876" y="534746"/>
                  </a:cubicBezTo>
                  <a:cubicBezTo>
                    <a:pt x="1212799" y="538824"/>
                    <a:pt x="1207268" y="541115"/>
                    <a:pt x="1201501" y="541115"/>
                  </a:cubicBezTo>
                  <a:lnTo>
                    <a:pt x="21743" y="541115"/>
                  </a:lnTo>
                  <a:cubicBezTo>
                    <a:pt x="9735" y="541115"/>
                    <a:pt x="0" y="531380"/>
                    <a:pt x="0" y="51937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2324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27081" y="3954214"/>
            <a:ext cx="5340878" cy="2362528"/>
            <a:chOff x="0" y="0"/>
            <a:chExt cx="1223245" cy="5411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3245" cy="541115"/>
            </a:xfrm>
            <a:custGeom>
              <a:avLst/>
              <a:gdLst/>
              <a:ahLst/>
              <a:cxnLst/>
              <a:rect r="r" b="b" t="t" l="l"/>
              <a:pathLst>
                <a:path h="541115" w="1223245">
                  <a:moveTo>
                    <a:pt x="1223245" y="21743"/>
                  </a:moveTo>
                  <a:lnTo>
                    <a:pt x="1223245" y="519371"/>
                  </a:lnTo>
                  <a:cubicBezTo>
                    <a:pt x="1223245" y="525138"/>
                    <a:pt x="1220954" y="530668"/>
                    <a:pt x="1216876" y="534746"/>
                  </a:cubicBezTo>
                  <a:cubicBezTo>
                    <a:pt x="1212799" y="538824"/>
                    <a:pt x="1207268" y="541115"/>
                    <a:pt x="1201501" y="541115"/>
                  </a:cubicBezTo>
                  <a:lnTo>
                    <a:pt x="21743" y="541115"/>
                  </a:lnTo>
                  <a:cubicBezTo>
                    <a:pt x="9735" y="541115"/>
                    <a:pt x="0" y="531380"/>
                    <a:pt x="0" y="51937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2324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27081" y="1383008"/>
            <a:ext cx="5340878" cy="2362528"/>
            <a:chOff x="0" y="0"/>
            <a:chExt cx="1223245" cy="541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3245" cy="541115"/>
            </a:xfrm>
            <a:custGeom>
              <a:avLst/>
              <a:gdLst/>
              <a:ahLst/>
              <a:cxnLst/>
              <a:rect r="r" b="b" t="t" l="l"/>
              <a:pathLst>
                <a:path h="541115" w="1223245">
                  <a:moveTo>
                    <a:pt x="1223245" y="21743"/>
                  </a:moveTo>
                  <a:lnTo>
                    <a:pt x="1223245" y="519371"/>
                  </a:lnTo>
                  <a:cubicBezTo>
                    <a:pt x="1223245" y="525138"/>
                    <a:pt x="1220954" y="530668"/>
                    <a:pt x="1216876" y="534746"/>
                  </a:cubicBezTo>
                  <a:cubicBezTo>
                    <a:pt x="1212799" y="538824"/>
                    <a:pt x="1207268" y="541115"/>
                    <a:pt x="1201501" y="541115"/>
                  </a:cubicBezTo>
                  <a:lnTo>
                    <a:pt x="21743" y="541115"/>
                  </a:lnTo>
                  <a:cubicBezTo>
                    <a:pt x="9735" y="541115"/>
                    <a:pt x="0" y="531380"/>
                    <a:pt x="0" y="51937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2324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643851" y="-1218305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8" y="0"/>
                </a:lnTo>
                <a:lnTo>
                  <a:pt x="1000298" y="6397252"/>
                </a:lnTo>
                <a:lnTo>
                  <a:pt x="0" y="639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43851" y="5108053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8" y="0"/>
                </a:lnTo>
                <a:lnTo>
                  <a:pt x="1000298" y="6397252"/>
                </a:lnTo>
                <a:lnTo>
                  <a:pt x="0" y="639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977066" y="3954214"/>
            <a:ext cx="1364578" cy="2362528"/>
            <a:chOff x="0" y="0"/>
            <a:chExt cx="312535" cy="5411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2535" cy="541115"/>
            </a:xfrm>
            <a:custGeom>
              <a:avLst/>
              <a:gdLst/>
              <a:ahLst/>
              <a:cxnLst/>
              <a:rect r="r" b="b" t="t" l="l"/>
              <a:pathLst>
                <a:path h="541115" w="312535">
                  <a:moveTo>
                    <a:pt x="312535" y="85102"/>
                  </a:moveTo>
                  <a:lnTo>
                    <a:pt x="312535" y="456012"/>
                  </a:lnTo>
                  <a:cubicBezTo>
                    <a:pt x="312535" y="478583"/>
                    <a:pt x="303569" y="500229"/>
                    <a:pt x="287610" y="516189"/>
                  </a:cubicBezTo>
                  <a:cubicBezTo>
                    <a:pt x="271650" y="532148"/>
                    <a:pt x="250004" y="541115"/>
                    <a:pt x="227433" y="541115"/>
                  </a:cubicBezTo>
                  <a:lnTo>
                    <a:pt x="85102" y="541115"/>
                  </a:lnTo>
                  <a:cubicBezTo>
                    <a:pt x="62532" y="541115"/>
                    <a:pt x="40886" y="532148"/>
                    <a:pt x="24926" y="516189"/>
                  </a:cubicBezTo>
                  <a:cubicBezTo>
                    <a:pt x="8966" y="500229"/>
                    <a:pt x="0" y="478583"/>
                    <a:pt x="0" y="456012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1253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77066" y="1383008"/>
            <a:ext cx="1364578" cy="2362528"/>
            <a:chOff x="0" y="0"/>
            <a:chExt cx="312535" cy="5411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2535" cy="541115"/>
            </a:xfrm>
            <a:custGeom>
              <a:avLst/>
              <a:gdLst/>
              <a:ahLst/>
              <a:cxnLst/>
              <a:rect r="r" b="b" t="t" l="l"/>
              <a:pathLst>
                <a:path h="541115" w="312535">
                  <a:moveTo>
                    <a:pt x="312535" y="85102"/>
                  </a:moveTo>
                  <a:lnTo>
                    <a:pt x="312535" y="456012"/>
                  </a:lnTo>
                  <a:cubicBezTo>
                    <a:pt x="312535" y="478583"/>
                    <a:pt x="303569" y="500229"/>
                    <a:pt x="287610" y="516189"/>
                  </a:cubicBezTo>
                  <a:cubicBezTo>
                    <a:pt x="271650" y="532148"/>
                    <a:pt x="250004" y="541115"/>
                    <a:pt x="227433" y="541115"/>
                  </a:cubicBezTo>
                  <a:lnTo>
                    <a:pt x="85102" y="541115"/>
                  </a:lnTo>
                  <a:cubicBezTo>
                    <a:pt x="62532" y="541115"/>
                    <a:pt x="40886" y="532148"/>
                    <a:pt x="24926" y="516189"/>
                  </a:cubicBezTo>
                  <a:cubicBezTo>
                    <a:pt x="8966" y="500229"/>
                    <a:pt x="0" y="478583"/>
                    <a:pt x="0" y="456012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1253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77066" y="6535817"/>
            <a:ext cx="1364578" cy="2362528"/>
            <a:chOff x="0" y="0"/>
            <a:chExt cx="312535" cy="5411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2535" cy="541115"/>
            </a:xfrm>
            <a:custGeom>
              <a:avLst/>
              <a:gdLst/>
              <a:ahLst/>
              <a:cxnLst/>
              <a:rect r="r" b="b" t="t" l="l"/>
              <a:pathLst>
                <a:path h="541115" w="312535">
                  <a:moveTo>
                    <a:pt x="312535" y="85102"/>
                  </a:moveTo>
                  <a:lnTo>
                    <a:pt x="312535" y="456012"/>
                  </a:lnTo>
                  <a:cubicBezTo>
                    <a:pt x="312535" y="478583"/>
                    <a:pt x="303569" y="500229"/>
                    <a:pt x="287610" y="516189"/>
                  </a:cubicBezTo>
                  <a:cubicBezTo>
                    <a:pt x="271650" y="532148"/>
                    <a:pt x="250004" y="541115"/>
                    <a:pt x="227433" y="541115"/>
                  </a:cubicBezTo>
                  <a:lnTo>
                    <a:pt x="85102" y="541115"/>
                  </a:lnTo>
                  <a:cubicBezTo>
                    <a:pt x="62532" y="541115"/>
                    <a:pt x="40886" y="532148"/>
                    <a:pt x="24926" y="516189"/>
                  </a:cubicBezTo>
                  <a:cubicBezTo>
                    <a:pt x="8966" y="500229"/>
                    <a:pt x="0" y="478583"/>
                    <a:pt x="0" y="456012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1253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198894" y="2056834"/>
            <a:ext cx="4035630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18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ear, month, day, hour, day_of_week, week_of_year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is_weekend, is_rush_hour, is_holiday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time_of_day, season</a:t>
            </a:r>
          </a:p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374787" y="1605036"/>
            <a:ext cx="384308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Temporelle</a:t>
            </a:r>
            <a:r>
              <a:rPr lang="en-US" b="true" sz="2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 </a:t>
            </a:r>
            <a:r>
              <a:rPr lang="en-US" b="true" sz="2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(11)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8894" y="4771411"/>
            <a:ext cx="3489486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temp_celsius,</a:t>
            </a:r>
            <a:r>
              <a:rPr lang="en-US" sz="18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is_raining, is_snowing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temp_level, cloud_category</a:t>
            </a:r>
          </a:p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2374787" y="7418880"/>
            <a:ext cx="3489486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Jour</a:t>
            </a:r>
            <a:r>
              <a:rPr lang="en-US" sz="1800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s fériés, conditions météo, saisons, niveaux de températur</a:t>
            </a:r>
            <a:r>
              <a:rPr lang="en-US" sz="1800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e/nuages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74787" y="4177051"/>
            <a:ext cx="312680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Météorologiques (5)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74787" y="6824520"/>
            <a:ext cx="362472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CF5F5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100">
                <a:solidFill>
                  <a:srgbClr val="FCF5F5"/>
                </a:solidFill>
                <a:latin typeface="Poppins Bold"/>
                <a:ea typeface="Poppins Bold"/>
                <a:cs typeface="Poppins Bold"/>
                <a:sym typeface="Poppins Bold"/>
              </a:rPr>
              <a:t>ncodage One-Hot (73)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64913" y="2033692"/>
            <a:ext cx="1188883" cy="80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64913" y="4627182"/>
            <a:ext cx="1188883" cy="80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64913" y="7277026"/>
            <a:ext cx="1188883" cy="80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3559" y="1463817"/>
            <a:ext cx="7077075" cy="110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PRÉTRAITEMENT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721806" y="3970258"/>
            <a:ext cx="5340878" cy="4933734"/>
            <a:chOff x="0" y="0"/>
            <a:chExt cx="1223245" cy="11300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23245" cy="1130025"/>
            </a:xfrm>
            <a:custGeom>
              <a:avLst/>
              <a:gdLst/>
              <a:ahLst/>
              <a:cxnLst/>
              <a:rect r="r" b="b" t="t" l="l"/>
              <a:pathLst>
                <a:path h="1130025" w="1223245">
                  <a:moveTo>
                    <a:pt x="1223245" y="21743"/>
                  </a:moveTo>
                  <a:lnTo>
                    <a:pt x="1223245" y="1108281"/>
                  </a:lnTo>
                  <a:cubicBezTo>
                    <a:pt x="1223245" y="1114048"/>
                    <a:pt x="1220954" y="1119579"/>
                    <a:pt x="1216876" y="1123656"/>
                  </a:cubicBezTo>
                  <a:cubicBezTo>
                    <a:pt x="1212799" y="1127734"/>
                    <a:pt x="1207268" y="1130025"/>
                    <a:pt x="1201501" y="1130025"/>
                  </a:cubicBezTo>
                  <a:lnTo>
                    <a:pt x="21743" y="1130025"/>
                  </a:lnTo>
                  <a:cubicBezTo>
                    <a:pt x="9735" y="1130025"/>
                    <a:pt x="0" y="1120290"/>
                    <a:pt x="0" y="110828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223245" cy="118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71791" y="3970258"/>
            <a:ext cx="1364578" cy="4933734"/>
            <a:chOff x="0" y="0"/>
            <a:chExt cx="312535" cy="11300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2535" cy="1130025"/>
            </a:xfrm>
            <a:custGeom>
              <a:avLst/>
              <a:gdLst/>
              <a:ahLst/>
              <a:cxnLst/>
              <a:rect r="r" b="b" t="t" l="l"/>
              <a:pathLst>
                <a:path h="1130025" w="312535">
                  <a:moveTo>
                    <a:pt x="312535" y="85102"/>
                  </a:moveTo>
                  <a:lnTo>
                    <a:pt x="312535" y="1044923"/>
                  </a:lnTo>
                  <a:cubicBezTo>
                    <a:pt x="312535" y="1067493"/>
                    <a:pt x="303569" y="1089139"/>
                    <a:pt x="287610" y="1105099"/>
                  </a:cubicBezTo>
                  <a:cubicBezTo>
                    <a:pt x="271650" y="1121059"/>
                    <a:pt x="250004" y="1130025"/>
                    <a:pt x="227433" y="1130025"/>
                  </a:cubicBezTo>
                  <a:lnTo>
                    <a:pt x="85102" y="1130025"/>
                  </a:lnTo>
                  <a:cubicBezTo>
                    <a:pt x="62532" y="1130025"/>
                    <a:pt x="40886" y="1121059"/>
                    <a:pt x="24926" y="1105099"/>
                  </a:cubicBezTo>
                  <a:cubicBezTo>
                    <a:pt x="8966" y="1089139"/>
                    <a:pt x="0" y="1067493"/>
                    <a:pt x="0" y="1044923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312535" cy="118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286953" y="5019539"/>
            <a:ext cx="4208207" cy="295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5239" indent="-202619" lvl="1">
              <a:lnSpc>
                <a:spcPts val="2627"/>
              </a:lnSpc>
              <a:spcBef>
                <a:spcPct val="0"/>
              </a:spcBef>
              <a:buFont typeface="Arial"/>
              <a:buChar char="•"/>
            </a:pPr>
            <a:r>
              <a:rPr lang="en-US" sz="1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</a:t>
            </a:r>
            <a:r>
              <a:rPr lang="en-US" sz="1876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eurs manquantes (holiday)  </a:t>
            </a:r>
          </a:p>
          <a:p>
            <a:pPr algn="l" marL="405239" indent="-202619" lvl="1">
              <a:lnSpc>
                <a:spcPts val="2627"/>
              </a:lnSpc>
              <a:spcBef>
                <a:spcPct val="0"/>
              </a:spcBef>
              <a:buFont typeface="Arial"/>
              <a:buChar char="•"/>
            </a:pPr>
            <a:r>
              <a:rPr lang="en-US" sz="1876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Doublons : 17 lignes supprimées</a:t>
            </a:r>
          </a:p>
          <a:p>
            <a:pPr algn="l" marL="405239" indent="-202619" lvl="1">
              <a:lnSpc>
                <a:spcPts val="2627"/>
              </a:lnSpc>
              <a:spcBef>
                <a:spcPct val="0"/>
              </a:spcBef>
              <a:buFont typeface="Arial"/>
              <a:buChar char="•"/>
            </a:pPr>
            <a:r>
              <a:rPr lang="en-US" sz="1876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Outliers météo : 11 lignes éliminées (précipitations/températures impossibles)</a:t>
            </a:r>
          </a:p>
          <a:p>
            <a:pPr algn="l" marL="405239" indent="-202619" lvl="1">
              <a:lnSpc>
                <a:spcPts val="2627"/>
              </a:lnSpc>
              <a:spcBef>
                <a:spcPct val="0"/>
              </a:spcBef>
              <a:buFont typeface="Arial"/>
              <a:buChar char="•"/>
            </a:pPr>
            <a:r>
              <a:rPr lang="en-US" sz="1876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Résultat : 48,176 observations propres</a:t>
            </a:r>
          </a:p>
          <a:p>
            <a:pPr algn="l" marL="0" indent="0" lvl="1">
              <a:lnSpc>
                <a:spcPts val="2627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3469513" y="4314236"/>
            <a:ext cx="384308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Nettoyage de</a:t>
            </a:r>
            <a:r>
              <a:rPr lang="en-US" b="true" sz="2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 </a:t>
            </a:r>
            <a:r>
              <a:rPr lang="en-US" b="true" sz="2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</a:t>
            </a:r>
            <a:r>
              <a:rPr lang="en-US" b="true" sz="2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nn</a:t>
            </a:r>
            <a:r>
              <a:rPr lang="en-US" b="true" sz="2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ées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59639" y="4620941"/>
            <a:ext cx="1188883" cy="80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71348" y="404779"/>
            <a:ext cx="5738812" cy="41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6"/>
              </a:lnSpc>
              <a:spcBef>
                <a:spcPct val="0"/>
              </a:spcBef>
            </a:pPr>
            <a:r>
              <a:rPr lang="en-US" b="true" sz="2362">
                <a:solidFill>
                  <a:srgbClr val="073C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Feature Engineering : 89 Features Créées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3789" y="5337104"/>
            <a:ext cx="4294880" cy="4294880"/>
          </a:xfrm>
          <a:custGeom>
            <a:avLst/>
            <a:gdLst/>
            <a:ahLst/>
            <a:cxnLst/>
            <a:rect r="r" b="b" t="t" l="l"/>
            <a:pathLst>
              <a:path h="4294880" w="4294880">
                <a:moveTo>
                  <a:pt x="0" y="0"/>
                </a:moveTo>
                <a:lnTo>
                  <a:pt x="4294880" y="0"/>
                </a:lnTo>
                <a:lnTo>
                  <a:pt x="4294880" y="4294880"/>
                </a:lnTo>
                <a:lnTo>
                  <a:pt x="0" y="4294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10911" y="3065277"/>
            <a:ext cx="11173167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3-   Modèles et  méthodologie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764483" y="891753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6" y="0"/>
                </a:lnTo>
                <a:lnTo>
                  <a:pt x="4714206" y="4385691"/>
                </a:lnTo>
                <a:lnTo>
                  <a:pt x="0" y="4385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594737" y="2688282"/>
            <a:ext cx="733502" cy="4691004"/>
          </a:xfrm>
          <a:custGeom>
            <a:avLst/>
            <a:gdLst/>
            <a:ahLst/>
            <a:cxnLst/>
            <a:rect r="r" b="b" t="t" l="l"/>
            <a:pathLst>
              <a:path h="4691004" w="733502">
                <a:moveTo>
                  <a:pt x="0" y="0"/>
                </a:moveTo>
                <a:lnTo>
                  <a:pt x="733503" y="0"/>
                </a:lnTo>
                <a:lnTo>
                  <a:pt x="733503" y="4691003"/>
                </a:lnTo>
                <a:lnTo>
                  <a:pt x="0" y="46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2556402" y="96795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7" y="4385690"/>
                </a:lnTo>
                <a:lnTo>
                  <a:pt x="4714207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1015799" y="483129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1"/>
                </a:moveTo>
                <a:lnTo>
                  <a:pt x="4714206" y="4385691"/>
                </a:lnTo>
                <a:lnTo>
                  <a:pt x="4714206" y="0"/>
                </a:lnTo>
                <a:lnTo>
                  <a:pt x="0" y="0"/>
                </a:lnTo>
                <a:lnTo>
                  <a:pt x="0" y="43856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4902197" y="4797058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6" y="0"/>
                </a:lnTo>
                <a:lnTo>
                  <a:pt x="4714206" y="4385691"/>
                </a:lnTo>
                <a:lnTo>
                  <a:pt x="0" y="4385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923834" y="375090"/>
            <a:ext cx="1723262" cy="17232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3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69993" y="4269493"/>
            <a:ext cx="1748014" cy="174801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3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525064" y="7982103"/>
            <a:ext cx="1748014" cy="174801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3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290831" y="638811"/>
            <a:ext cx="989268" cy="1195819"/>
          </a:xfrm>
          <a:custGeom>
            <a:avLst/>
            <a:gdLst/>
            <a:ahLst/>
            <a:cxnLst/>
            <a:rect r="r" b="b" t="t" l="l"/>
            <a:pathLst>
              <a:path h="1195819" w="989268">
                <a:moveTo>
                  <a:pt x="0" y="0"/>
                </a:moveTo>
                <a:lnTo>
                  <a:pt x="989268" y="0"/>
                </a:lnTo>
                <a:lnTo>
                  <a:pt x="989268" y="1195819"/>
                </a:lnTo>
                <a:lnTo>
                  <a:pt x="0" y="1195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68775" y="8302849"/>
            <a:ext cx="1215947" cy="1182785"/>
          </a:xfrm>
          <a:custGeom>
            <a:avLst/>
            <a:gdLst/>
            <a:ahLst/>
            <a:cxnLst/>
            <a:rect r="r" b="b" t="t" l="l"/>
            <a:pathLst>
              <a:path h="1182785" w="1215947">
                <a:moveTo>
                  <a:pt x="0" y="0"/>
                </a:moveTo>
                <a:lnTo>
                  <a:pt x="1215947" y="0"/>
                </a:lnTo>
                <a:lnTo>
                  <a:pt x="1215947" y="1182784"/>
                </a:lnTo>
                <a:lnTo>
                  <a:pt x="0" y="1182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575434" y="4574934"/>
            <a:ext cx="1137132" cy="1137132"/>
          </a:xfrm>
          <a:custGeom>
            <a:avLst/>
            <a:gdLst/>
            <a:ahLst/>
            <a:cxnLst/>
            <a:rect r="r" b="b" t="t" l="l"/>
            <a:pathLst>
              <a:path h="1137132" w="1137132">
                <a:moveTo>
                  <a:pt x="0" y="0"/>
                </a:moveTo>
                <a:lnTo>
                  <a:pt x="1137132" y="0"/>
                </a:lnTo>
                <a:lnTo>
                  <a:pt x="1137132" y="1137132"/>
                </a:lnTo>
                <a:lnTo>
                  <a:pt x="0" y="11371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92911" y="3545208"/>
            <a:ext cx="3855499" cy="458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Problème traité : régression (prédiction du volume de trafic)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Sé</a:t>
            </a: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paration des données : 80% entraînement / 20% test(shuffle)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Même jeu de données et mêm</a:t>
            </a: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es features pour tous les modèles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Objec</a:t>
            </a: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tif : comparer performance vs coût de calcul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78874" y="2482590"/>
            <a:ext cx="301318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Approche mé</a:t>
            </a: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thodologique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91055" y="1415740"/>
            <a:ext cx="310589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Modèles implémentés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49251" y="2071770"/>
            <a:ext cx="3915734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Rand</a:t>
            </a: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om Forest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XGBoost Baseline (paramètres par défaut)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XGBoost Optimisé (GridSearchCV)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865589" y="4252340"/>
            <a:ext cx="3222319" cy="353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RMSE : </a:t>
            </a: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erreur quadratique moyenne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MAE : erreur absolue moyenne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R² : qualité globale du modèle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Temps d’entraînement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3779893" y="3734180"/>
            <a:ext cx="339371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Métriques u</a:t>
            </a: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tilisées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01189"/>
            <a:ext cx="18288000" cy="7178040"/>
          </a:xfrm>
          <a:custGeom>
            <a:avLst/>
            <a:gdLst/>
            <a:ahLst/>
            <a:cxnLst/>
            <a:rect r="r" b="b" t="t" l="l"/>
            <a:pathLst>
              <a:path h="7178040" w="18288000">
                <a:moveTo>
                  <a:pt x="0" y="0"/>
                </a:moveTo>
                <a:lnTo>
                  <a:pt x="18288000" y="0"/>
                </a:lnTo>
                <a:lnTo>
                  <a:pt x="18288000" y="7178040"/>
                </a:lnTo>
                <a:lnTo>
                  <a:pt x="0" y="7178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479" y="846531"/>
            <a:ext cx="13166570" cy="78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0"/>
              </a:lnSpc>
              <a:spcBef>
                <a:spcPct val="0"/>
              </a:spcBef>
            </a:pPr>
            <a:r>
              <a:rPr lang="en-US" b="true" sz="52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COMPARAISON DES MODÈLES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8056" y="4808542"/>
            <a:ext cx="3989718" cy="4283201"/>
          </a:xfrm>
          <a:custGeom>
            <a:avLst/>
            <a:gdLst/>
            <a:ahLst/>
            <a:cxnLst/>
            <a:rect r="r" b="b" t="t" l="l"/>
            <a:pathLst>
              <a:path h="4283201" w="3989718">
                <a:moveTo>
                  <a:pt x="0" y="0"/>
                </a:moveTo>
                <a:lnTo>
                  <a:pt x="3989718" y="0"/>
                </a:lnTo>
                <a:lnTo>
                  <a:pt x="3989718" y="4283201"/>
                </a:lnTo>
                <a:lnTo>
                  <a:pt x="0" y="4283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10911" y="3065277"/>
            <a:ext cx="11173167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4-   Résultats et évaluation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6634" y="-1791988"/>
            <a:ext cx="4539624" cy="4223274"/>
          </a:xfrm>
          <a:custGeom>
            <a:avLst/>
            <a:gdLst/>
            <a:ahLst/>
            <a:cxnLst/>
            <a:rect r="r" b="b" t="t" l="l"/>
            <a:pathLst>
              <a:path h="4223274" w="4539624">
                <a:moveTo>
                  <a:pt x="0" y="0"/>
                </a:moveTo>
                <a:lnTo>
                  <a:pt x="4539624" y="0"/>
                </a:lnTo>
                <a:lnTo>
                  <a:pt x="4539624" y="4223275"/>
                </a:lnTo>
                <a:lnTo>
                  <a:pt x="0" y="4223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08320" y="6526915"/>
            <a:ext cx="4507382" cy="4193279"/>
          </a:xfrm>
          <a:custGeom>
            <a:avLst/>
            <a:gdLst/>
            <a:ahLst/>
            <a:cxnLst/>
            <a:rect r="r" b="b" t="t" l="l"/>
            <a:pathLst>
              <a:path h="4193279" w="4507382">
                <a:moveTo>
                  <a:pt x="0" y="0"/>
                </a:moveTo>
                <a:lnTo>
                  <a:pt x="4507382" y="0"/>
                </a:lnTo>
                <a:lnTo>
                  <a:pt x="4507382" y="4193279"/>
                </a:lnTo>
                <a:lnTo>
                  <a:pt x="0" y="4193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8578" y="2274027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5"/>
                </a:lnTo>
                <a:lnTo>
                  <a:pt x="0" y="4653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402498" y="4310507"/>
            <a:ext cx="1279840" cy="1279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3C7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02498" y="1898177"/>
            <a:ext cx="1279840" cy="127984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3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02498" y="6724881"/>
            <a:ext cx="1279840" cy="12798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3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88825" y="2163384"/>
            <a:ext cx="707187" cy="749427"/>
          </a:xfrm>
          <a:custGeom>
            <a:avLst/>
            <a:gdLst/>
            <a:ahLst/>
            <a:cxnLst/>
            <a:rect r="r" b="b" t="t" l="l"/>
            <a:pathLst>
              <a:path h="749427" w="707187">
                <a:moveTo>
                  <a:pt x="0" y="0"/>
                </a:moveTo>
                <a:lnTo>
                  <a:pt x="707186" y="0"/>
                </a:lnTo>
                <a:lnTo>
                  <a:pt x="707186" y="749427"/>
                </a:lnTo>
                <a:lnTo>
                  <a:pt x="0" y="749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08978" y="4617639"/>
            <a:ext cx="697280" cy="667621"/>
          </a:xfrm>
          <a:custGeom>
            <a:avLst/>
            <a:gdLst/>
            <a:ahLst/>
            <a:cxnLst/>
            <a:rect r="r" b="b" t="t" l="l"/>
            <a:pathLst>
              <a:path h="667621" w="697280">
                <a:moveTo>
                  <a:pt x="0" y="0"/>
                </a:moveTo>
                <a:lnTo>
                  <a:pt x="697280" y="0"/>
                </a:lnTo>
                <a:lnTo>
                  <a:pt x="697280" y="667620"/>
                </a:lnTo>
                <a:lnTo>
                  <a:pt x="0" y="667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734544" y="7019228"/>
            <a:ext cx="615748" cy="691146"/>
          </a:xfrm>
          <a:custGeom>
            <a:avLst/>
            <a:gdLst/>
            <a:ahLst/>
            <a:cxnLst/>
            <a:rect r="r" b="b" t="t" l="l"/>
            <a:pathLst>
              <a:path h="691146" w="615748">
                <a:moveTo>
                  <a:pt x="0" y="0"/>
                </a:moveTo>
                <a:lnTo>
                  <a:pt x="615748" y="0"/>
                </a:lnTo>
                <a:lnTo>
                  <a:pt x="615748" y="691146"/>
                </a:lnTo>
                <a:lnTo>
                  <a:pt x="0" y="6911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232391" y="4943860"/>
            <a:ext cx="3527563" cy="199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Très</a:t>
            </a:r>
            <a:r>
              <a:rPr lang="en-US" sz="2299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 rapide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Bon compromis précision / temps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Idéal pour des prédictions rapides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83859" y="4358925"/>
            <a:ext cx="367609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XGB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os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B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sel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8981" y="2480947"/>
            <a:ext cx="3503172" cy="390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Amélioration du RMSE : +8.32%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Amélioration du MAE : +10.35%</a:t>
            </a:r>
          </a:p>
          <a:p>
            <a:pPr algn="l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199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eilleure généralisation</a:t>
            </a:r>
          </a:p>
          <a:p>
            <a:pPr algn="l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Coût de calcul élevé mais acceptable pour un modèle final</a:t>
            </a:r>
          </a:p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658981" y="7213193"/>
            <a:ext cx="3528013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Performances correct</a:t>
            </a:r>
            <a:r>
              <a:rPr lang="en-US" sz="22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Moins précis que XGBoost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Moins adapté</a:t>
            </a:r>
            <a:r>
              <a:rPr lang="en-US" sz="2299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 aux patterns complexes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47163" y="1993921"/>
            <a:ext cx="312680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XGBoost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Optimi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é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00" strike="noStrike" u="non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8981" y="6723608"/>
            <a:ext cx="35280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Ra</a:t>
            </a:r>
            <a:r>
              <a:rPr lang="en-US" b="true" sz="24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ndom Forest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91854" y="2324227"/>
            <a:ext cx="6195137" cy="198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 ANALYSE &amp; CHOIX FINAL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5605" y="5390012"/>
            <a:ext cx="5050166" cy="4040133"/>
          </a:xfrm>
          <a:custGeom>
            <a:avLst/>
            <a:gdLst/>
            <a:ahLst/>
            <a:cxnLst/>
            <a:rect r="r" b="b" t="t" l="l"/>
            <a:pathLst>
              <a:path h="4040133" w="5050166">
                <a:moveTo>
                  <a:pt x="0" y="0"/>
                </a:moveTo>
                <a:lnTo>
                  <a:pt x="5050166" y="0"/>
                </a:lnTo>
                <a:lnTo>
                  <a:pt x="5050166" y="4040133"/>
                </a:lnTo>
                <a:lnTo>
                  <a:pt x="0" y="4040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95771" y="3132807"/>
            <a:ext cx="11173167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5-  Application Web Développée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46815" y="1508372"/>
            <a:ext cx="5679888" cy="3635128"/>
          </a:xfrm>
          <a:custGeom>
            <a:avLst/>
            <a:gdLst/>
            <a:ahLst/>
            <a:cxnLst/>
            <a:rect r="r" b="b" t="t" l="l"/>
            <a:pathLst>
              <a:path h="3635128" w="5679888">
                <a:moveTo>
                  <a:pt x="0" y="0"/>
                </a:moveTo>
                <a:lnTo>
                  <a:pt x="5679888" y="0"/>
                </a:lnTo>
                <a:lnTo>
                  <a:pt x="5679888" y="3635128"/>
                </a:lnTo>
                <a:lnTo>
                  <a:pt x="0" y="3635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11612543" y="2329312"/>
            <a:ext cx="761070" cy="4867307"/>
          </a:xfrm>
          <a:custGeom>
            <a:avLst/>
            <a:gdLst/>
            <a:ahLst/>
            <a:cxnLst/>
            <a:rect r="r" b="b" t="t" l="l"/>
            <a:pathLst>
              <a:path h="4867307" w="761070">
                <a:moveTo>
                  <a:pt x="0" y="0"/>
                </a:moveTo>
                <a:lnTo>
                  <a:pt x="761070" y="0"/>
                </a:lnTo>
                <a:lnTo>
                  <a:pt x="761070" y="4867306"/>
                </a:lnTo>
                <a:lnTo>
                  <a:pt x="0" y="486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6965916" y="5245189"/>
            <a:ext cx="761070" cy="4867307"/>
          </a:xfrm>
          <a:custGeom>
            <a:avLst/>
            <a:gdLst/>
            <a:ahLst/>
            <a:cxnLst/>
            <a:rect r="r" b="b" t="t" l="l"/>
            <a:pathLst>
              <a:path h="4867307" w="761070">
                <a:moveTo>
                  <a:pt x="0" y="0"/>
                </a:moveTo>
                <a:lnTo>
                  <a:pt x="761070" y="0"/>
                </a:lnTo>
                <a:lnTo>
                  <a:pt x="761070" y="4867307"/>
                </a:lnTo>
                <a:lnTo>
                  <a:pt x="0" y="486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9338746" y="4451336"/>
            <a:ext cx="5679888" cy="3635128"/>
          </a:xfrm>
          <a:custGeom>
            <a:avLst/>
            <a:gdLst/>
            <a:ahLst/>
            <a:cxnLst/>
            <a:rect r="r" b="b" t="t" l="l"/>
            <a:pathLst>
              <a:path h="3635128" w="5679888">
                <a:moveTo>
                  <a:pt x="0" y="3635129"/>
                </a:moveTo>
                <a:lnTo>
                  <a:pt x="5679888" y="3635129"/>
                </a:lnTo>
                <a:lnTo>
                  <a:pt x="5679888" y="0"/>
                </a:lnTo>
                <a:lnTo>
                  <a:pt x="0" y="0"/>
                </a:lnTo>
                <a:lnTo>
                  <a:pt x="0" y="36351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284876" y="172469"/>
            <a:ext cx="6083938" cy="4403935"/>
            <a:chOff x="0" y="0"/>
            <a:chExt cx="1602393" cy="11599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393" cy="1159944"/>
            </a:xfrm>
            <a:custGeom>
              <a:avLst/>
              <a:gdLst/>
              <a:ahLst/>
              <a:cxnLst/>
              <a:rect r="r" b="b" t="t" l="l"/>
              <a:pathLst>
                <a:path h="1159944" w="1602393">
                  <a:moveTo>
                    <a:pt x="1602393" y="19088"/>
                  </a:moveTo>
                  <a:lnTo>
                    <a:pt x="1602393" y="1140856"/>
                  </a:lnTo>
                  <a:cubicBezTo>
                    <a:pt x="1602393" y="1151398"/>
                    <a:pt x="1593847" y="1159944"/>
                    <a:pt x="1583305" y="1159944"/>
                  </a:cubicBezTo>
                  <a:lnTo>
                    <a:pt x="19088" y="1159944"/>
                  </a:lnTo>
                  <a:cubicBezTo>
                    <a:pt x="8546" y="1159944"/>
                    <a:pt x="0" y="1151398"/>
                    <a:pt x="0" y="114085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02393" cy="1217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75362" y="2933659"/>
            <a:ext cx="6083938" cy="4403935"/>
            <a:chOff x="0" y="0"/>
            <a:chExt cx="1602393" cy="11599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2393" cy="1159944"/>
            </a:xfrm>
            <a:custGeom>
              <a:avLst/>
              <a:gdLst/>
              <a:ahLst/>
              <a:cxnLst/>
              <a:rect r="r" b="b" t="t" l="l"/>
              <a:pathLst>
                <a:path h="1159944" w="1602393">
                  <a:moveTo>
                    <a:pt x="1602393" y="19088"/>
                  </a:moveTo>
                  <a:lnTo>
                    <a:pt x="1602393" y="1140856"/>
                  </a:lnTo>
                  <a:cubicBezTo>
                    <a:pt x="1602393" y="1151398"/>
                    <a:pt x="1593847" y="1159944"/>
                    <a:pt x="1583305" y="1159944"/>
                  </a:cubicBezTo>
                  <a:lnTo>
                    <a:pt x="19088" y="1159944"/>
                  </a:lnTo>
                  <a:cubicBezTo>
                    <a:pt x="8546" y="1159944"/>
                    <a:pt x="0" y="1151398"/>
                    <a:pt x="0" y="114085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27E9F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02393" cy="1217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4876" y="5476875"/>
            <a:ext cx="6083938" cy="4403935"/>
            <a:chOff x="0" y="0"/>
            <a:chExt cx="1602393" cy="11599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393" cy="1159944"/>
            </a:xfrm>
            <a:custGeom>
              <a:avLst/>
              <a:gdLst/>
              <a:ahLst/>
              <a:cxnLst/>
              <a:rect r="r" b="b" t="t" l="l"/>
              <a:pathLst>
                <a:path h="1159944" w="1602393">
                  <a:moveTo>
                    <a:pt x="1602393" y="19088"/>
                  </a:moveTo>
                  <a:lnTo>
                    <a:pt x="1602393" y="1140856"/>
                  </a:lnTo>
                  <a:cubicBezTo>
                    <a:pt x="1602393" y="1151398"/>
                    <a:pt x="1593847" y="1159944"/>
                    <a:pt x="1583305" y="1159944"/>
                  </a:cubicBezTo>
                  <a:lnTo>
                    <a:pt x="19088" y="1159944"/>
                  </a:lnTo>
                  <a:cubicBezTo>
                    <a:pt x="8546" y="1159944"/>
                    <a:pt x="0" y="1151398"/>
                    <a:pt x="0" y="114085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02393" cy="1217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576735" y="267562"/>
            <a:ext cx="598786" cy="602070"/>
          </a:xfrm>
          <a:custGeom>
            <a:avLst/>
            <a:gdLst/>
            <a:ahLst/>
            <a:cxnLst/>
            <a:rect r="r" b="b" t="t" l="l"/>
            <a:pathLst>
              <a:path h="602070" w="598786">
                <a:moveTo>
                  <a:pt x="0" y="0"/>
                </a:moveTo>
                <a:lnTo>
                  <a:pt x="598786" y="0"/>
                </a:lnTo>
                <a:lnTo>
                  <a:pt x="598786" y="602070"/>
                </a:lnTo>
                <a:lnTo>
                  <a:pt x="0" y="6020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444192" y="3914956"/>
            <a:ext cx="5546278" cy="200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L’utilisateur renseigne les paramètres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données sont envoyées au serveur Flask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modèle effectue la prédiction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résultat est affiché à l’écran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558442" y="3370638"/>
            <a:ext cx="53177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Fonctionnalités principales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1852" y="1233764"/>
            <a:ext cx="5812332" cy="334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Rendre le modèle de prédiction du trafic accessible et interactif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Permettre à l’utilisateur de 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saisir des paramètres (date, heure, météo, jour férié)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obtenir une prédiction instantanée du volume de trafic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Valoriser le travail de modélisation par une application concrète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39296" y="653415"/>
            <a:ext cx="503743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CF5F5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 </a:t>
            </a:r>
            <a:r>
              <a:rPr lang="en-US" b="true" sz="2100">
                <a:solidFill>
                  <a:srgbClr val="FCF5F5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5045" y="6145635"/>
            <a:ext cx="5546278" cy="300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Interface web en HTML / CSS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Formulaire de saisie utilisateur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Réception des données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Prétraitement identique à celui du modèle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Appel du modèle XGBoost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Modèle entraîné et sauvegardé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CF5F5"/>
                </a:solidFill>
                <a:latin typeface="Poppins"/>
                <a:ea typeface="Poppins"/>
                <a:cs typeface="Poppins"/>
                <a:sym typeface="Poppins"/>
              </a:rPr>
              <a:t>Chargé au démarrage de l’application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39296" y="5910715"/>
            <a:ext cx="531777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CF5F5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de l’application 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576735" y="5666830"/>
            <a:ext cx="598786" cy="602070"/>
          </a:xfrm>
          <a:custGeom>
            <a:avLst/>
            <a:gdLst/>
            <a:ahLst/>
            <a:cxnLst/>
            <a:rect r="r" b="b" t="t" l="l"/>
            <a:pathLst>
              <a:path h="602070" w="598786">
                <a:moveTo>
                  <a:pt x="0" y="0"/>
                </a:moveTo>
                <a:lnTo>
                  <a:pt x="598786" y="0"/>
                </a:lnTo>
                <a:lnTo>
                  <a:pt x="598786" y="602071"/>
                </a:lnTo>
                <a:lnTo>
                  <a:pt x="0" y="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391684" y="3024901"/>
            <a:ext cx="598786" cy="602070"/>
          </a:xfrm>
          <a:custGeom>
            <a:avLst/>
            <a:gdLst/>
            <a:ahLst/>
            <a:cxnLst/>
            <a:rect r="r" b="b" t="t" l="l"/>
            <a:pathLst>
              <a:path h="602070" w="598786">
                <a:moveTo>
                  <a:pt x="0" y="0"/>
                </a:moveTo>
                <a:lnTo>
                  <a:pt x="598786" y="0"/>
                </a:lnTo>
                <a:lnTo>
                  <a:pt x="598786" y="602070"/>
                </a:lnTo>
                <a:lnTo>
                  <a:pt x="0" y="602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030651" cy="10287000"/>
          </a:xfrm>
          <a:custGeom>
            <a:avLst/>
            <a:gdLst/>
            <a:ahLst/>
            <a:cxnLst/>
            <a:rect r="r" b="b" t="t" l="l"/>
            <a:pathLst>
              <a:path h="10287000" w="19030651">
                <a:moveTo>
                  <a:pt x="0" y="0"/>
                </a:moveTo>
                <a:lnTo>
                  <a:pt x="19030651" y="0"/>
                </a:lnTo>
                <a:lnTo>
                  <a:pt x="190306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50" t="0" r="-705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6069" y="0"/>
            <a:ext cx="18873017" cy="10287000"/>
          </a:xfrm>
          <a:custGeom>
            <a:avLst/>
            <a:gdLst/>
            <a:ahLst/>
            <a:cxnLst/>
            <a:rect r="r" b="b" t="t" l="l"/>
            <a:pathLst>
              <a:path h="10287000" w="18873017">
                <a:moveTo>
                  <a:pt x="0" y="0"/>
                </a:moveTo>
                <a:lnTo>
                  <a:pt x="18873017" y="0"/>
                </a:lnTo>
                <a:lnTo>
                  <a:pt x="188730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74" t="0" r="-7074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383" y="0"/>
            <a:ext cx="18552798" cy="10287000"/>
          </a:xfrm>
          <a:custGeom>
            <a:avLst/>
            <a:gdLst/>
            <a:ahLst/>
            <a:cxnLst/>
            <a:rect r="r" b="b" t="t" l="l"/>
            <a:pathLst>
              <a:path h="10287000" w="18552798">
                <a:moveTo>
                  <a:pt x="0" y="0"/>
                </a:moveTo>
                <a:lnTo>
                  <a:pt x="18552799" y="0"/>
                </a:lnTo>
                <a:lnTo>
                  <a:pt x="185527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15" t="0" r="-7015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7514" y="5470139"/>
            <a:ext cx="3788161" cy="3788161"/>
          </a:xfrm>
          <a:custGeom>
            <a:avLst/>
            <a:gdLst/>
            <a:ahLst/>
            <a:cxnLst/>
            <a:rect r="r" b="b" t="t" l="l"/>
            <a:pathLst>
              <a:path h="3788161" w="3788161">
                <a:moveTo>
                  <a:pt x="0" y="0"/>
                </a:moveTo>
                <a:lnTo>
                  <a:pt x="3788161" y="0"/>
                </a:lnTo>
                <a:lnTo>
                  <a:pt x="3788161" y="3788161"/>
                </a:lnTo>
                <a:lnTo>
                  <a:pt x="0" y="37881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95771" y="3132807"/>
            <a:ext cx="11173167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6-  Conclusion et Perspectives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27081" y="3954214"/>
            <a:ext cx="5340878" cy="2362528"/>
            <a:chOff x="0" y="0"/>
            <a:chExt cx="1223245" cy="541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3245" cy="541115"/>
            </a:xfrm>
            <a:custGeom>
              <a:avLst/>
              <a:gdLst/>
              <a:ahLst/>
              <a:cxnLst/>
              <a:rect r="r" b="b" t="t" l="l"/>
              <a:pathLst>
                <a:path h="541115" w="1223245">
                  <a:moveTo>
                    <a:pt x="1223245" y="21743"/>
                  </a:moveTo>
                  <a:lnTo>
                    <a:pt x="1223245" y="519371"/>
                  </a:lnTo>
                  <a:cubicBezTo>
                    <a:pt x="1223245" y="525138"/>
                    <a:pt x="1220954" y="530668"/>
                    <a:pt x="1216876" y="534746"/>
                  </a:cubicBezTo>
                  <a:cubicBezTo>
                    <a:pt x="1212799" y="538824"/>
                    <a:pt x="1207268" y="541115"/>
                    <a:pt x="1201501" y="541115"/>
                  </a:cubicBezTo>
                  <a:lnTo>
                    <a:pt x="21743" y="541115"/>
                  </a:lnTo>
                  <a:cubicBezTo>
                    <a:pt x="9735" y="541115"/>
                    <a:pt x="0" y="531380"/>
                    <a:pt x="0" y="51937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25E1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2324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27081" y="1383008"/>
            <a:ext cx="5340878" cy="2362528"/>
            <a:chOff x="0" y="0"/>
            <a:chExt cx="1223245" cy="5411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3245" cy="541115"/>
            </a:xfrm>
            <a:custGeom>
              <a:avLst/>
              <a:gdLst/>
              <a:ahLst/>
              <a:cxnLst/>
              <a:rect r="r" b="b" t="t" l="l"/>
              <a:pathLst>
                <a:path h="541115" w="1223245">
                  <a:moveTo>
                    <a:pt x="1223245" y="21743"/>
                  </a:moveTo>
                  <a:lnTo>
                    <a:pt x="1223245" y="519371"/>
                  </a:lnTo>
                  <a:cubicBezTo>
                    <a:pt x="1223245" y="525138"/>
                    <a:pt x="1220954" y="530668"/>
                    <a:pt x="1216876" y="534746"/>
                  </a:cubicBezTo>
                  <a:cubicBezTo>
                    <a:pt x="1212799" y="538824"/>
                    <a:pt x="1207268" y="541115"/>
                    <a:pt x="1201501" y="541115"/>
                  </a:cubicBezTo>
                  <a:lnTo>
                    <a:pt x="21743" y="541115"/>
                  </a:lnTo>
                  <a:cubicBezTo>
                    <a:pt x="9735" y="541115"/>
                    <a:pt x="0" y="531380"/>
                    <a:pt x="0" y="51937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25E1F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2324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43851" y="-1218305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8" y="0"/>
                </a:lnTo>
                <a:lnTo>
                  <a:pt x="1000298" y="6397252"/>
                </a:lnTo>
                <a:lnTo>
                  <a:pt x="0" y="639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43851" y="5108053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8" y="0"/>
                </a:lnTo>
                <a:lnTo>
                  <a:pt x="1000298" y="6397252"/>
                </a:lnTo>
                <a:lnTo>
                  <a:pt x="0" y="639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977066" y="3954214"/>
            <a:ext cx="1364578" cy="2362528"/>
            <a:chOff x="0" y="0"/>
            <a:chExt cx="312535" cy="541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2535" cy="541115"/>
            </a:xfrm>
            <a:custGeom>
              <a:avLst/>
              <a:gdLst/>
              <a:ahLst/>
              <a:cxnLst/>
              <a:rect r="r" b="b" t="t" l="l"/>
              <a:pathLst>
                <a:path h="541115" w="312535">
                  <a:moveTo>
                    <a:pt x="312535" y="85102"/>
                  </a:moveTo>
                  <a:lnTo>
                    <a:pt x="312535" y="456012"/>
                  </a:lnTo>
                  <a:cubicBezTo>
                    <a:pt x="312535" y="478583"/>
                    <a:pt x="303569" y="500229"/>
                    <a:pt x="287610" y="516189"/>
                  </a:cubicBezTo>
                  <a:cubicBezTo>
                    <a:pt x="271650" y="532148"/>
                    <a:pt x="250004" y="541115"/>
                    <a:pt x="227433" y="541115"/>
                  </a:cubicBezTo>
                  <a:lnTo>
                    <a:pt x="85102" y="541115"/>
                  </a:lnTo>
                  <a:cubicBezTo>
                    <a:pt x="62532" y="541115"/>
                    <a:pt x="40886" y="532148"/>
                    <a:pt x="24926" y="516189"/>
                  </a:cubicBezTo>
                  <a:cubicBezTo>
                    <a:pt x="8966" y="500229"/>
                    <a:pt x="0" y="478583"/>
                    <a:pt x="0" y="456012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1253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77066" y="1383008"/>
            <a:ext cx="1364578" cy="2362528"/>
            <a:chOff x="0" y="0"/>
            <a:chExt cx="312535" cy="5411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2535" cy="541115"/>
            </a:xfrm>
            <a:custGeom>
              <a:avLst/>
              <a:gdLst/>
              <a:ahLst/>
              <a:cxnLst/>
              <a:rect r="r" b="b" t="t" l="l"/>
              <a:pathLst>
                <a:path h="541115" w="312535">
                  <a:moveTo>
                    <a:pt x="312535" y="85102"/>
                  </a:moveTo>
                  <a:lnTo>
                    <a:pt x="312535" y="456012"/>
                  </a:lnTo>
                  <a:cubicBezTo>
                    <a:pt x="312535" y="478583"/>
                    <a:pt x="303569" y="500229"/>
                    <a:pt x="287610" y="516189"/>
                  </a:cubicBezTo>
                  <a:cubicBezTo>
                    <a:pt x="271650" y="532148"/>
                    <a:pt x="250004" y="541115"/>
                    <a:pt x="227433" y="541115"/>
                  </a:cubicBezTo>
                  <a:lnTo>
                    <a:pt x="85102" y="541115"/>
                  </a:lnTo>
                  <a:cubicBezTo>
                    <a:pt x="62532" y="541115"/>
                    <a:pt x="40886" y="532148"/>
                    <a:pt x="24926" y="516189"/>
                  </a:cubicBezTo>
                  <a:cubicBezTo>
                    <a:pt x="8966" y="500229"/>
                    <a:pt x="0" y="478583"/>
                    <a:pt x="0" y="456012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1253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77066" y="6535817"/>
            <a:ext cx="1364578" cy="2362528"/>
            <a:chOff x="0" y="0"/>
            <a:chExt cx="312535" cy="5411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2535" cy="541115"/>
            </a:xfrm>
            <a:custGeom>
              <a:avLst/>
              <a:gdLst/>
              <a:ahLst/>
              <a:cxnLst/>
              <a:rect r="r" b="b" t="t" l="l"/>
              <a:pathLst>
                <a:path h="541115" w="312535">
                  <a:moveTo>
                    <a:pt x="312535" y="85102"/>
                  </a:moveTo>
                  <a:lnTo>
                    <a:pt x="312535" y="456012"/>
                  </a:lnTo>
                  <a:cubicBezTo>
                    <a:pt x="312535" y="478583"/>
                    <a:pt x="303569" y="500229"/>
                    <a:pt x="287610" y="516189"/>
                  </a:cubicBezTo>
                  <a:cubicBezTo>
                    <a:pt x="271650" y="532148"/>
                    <a:pt x="250004" y="541115"/>
                    <a:pt x="227433" y="541115"/>
                  </a:cubicBezTo>
                  <a:lnTo>
                    <a:pt x="85102" y="541115"/>
                  </a:lnTo>
                  <a:cubicBezTo>
                    <a:pt x="62532" y="541115"/>
                    <a:pt x="40886" y="532148"/>
                    <a:pt x="24926" y="516189"/>
                  </a:cubicBezTo>
                  <a:cubicBezTo>
                    <a:pt x="8966" y="500229"/>
                    <a:pt x="0" y="478583"/>
                    <a:pt x="0" y="456012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1253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811957" y="1923171"/>
            <a:ext cx="5156002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Le projet a couvert toutes les étapes : collecte et prétraitement des données, entraînement du modèle XGBoost, et déploiement via une application web fonctionnelle.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33428" y="1536487"/>
            <a:ext cx="384308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Bilan du projet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11957" y="4646232"/>
            <a:ext cx="4423129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Le modèle XGBoost optimisé a montré une excellente précision, avec des prédictions fiables et cohérentes pour le trafic routier.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33428" y="4166081"/>
            <a:ext cx="348948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du modèle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64913" y="4627182"/>
            <a:ext cx="1188883" cy="80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64913" y="7277026"/>
            <a:ext cx="1188883" cy="80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6102" y="3643567"/>
            <a:ext cx="5376049" cy="198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 Générale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675019" y="6478667"/>
            <a:ext cx="5340878" cy="2362528"/>
            <a:chOff x="0" y="0"/>
            <a:chExt cx="1223245" cy="5411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23245" cy="541115"/>
            </a:xfrm>
            <a:custGeom>
              <a:avLst/>
              <a:gdLst/>
              <a:ahLst/>
              <a:cxnLst/>
              <a:rect r="r" b="b" t="t" l="l"/>
              <a:pathLst>
                <a:path h="541115" w="1223245">
                  <a:moveTo>
                    <a:pt x="1223245" y="21743"/>
                  </a:moveTo>
                  <a:lnTo>
                    <a:pt x="1223245" y="519371"/>
                  </a:lnTo>
                  <a:cubicBezTo>
                    <a:pt x="1223245" y="525138"/>
                    <a:pt x="1220954" y="530668"/>
                    <a:pt x="1216876" y="534746"/>
                  </a:cubicBezTo>
                  <a:cubicBezTo>
                    <a:pt x="1212799" y="538824"/>
                    <a:pt x="1207268" y="541115"/>
                    <a:pt x="1201501" y="541115"/>
                  </a:cubicBezTo>
                  <a:lnTo>
                    <a:pt x="21743" y="541115"/>
                  </a:lnTo>
                  <a:cubicBezTo>
                    <a:pt x="9735" y="541115"/>
                    <a:pt x="0" y="531380"/>
                    <a:pt x="0" y="51937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25E1F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22324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933428" y="6707267"/>
            <a:ext cx="384308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Accessibilité et utilisation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75044" y="7234952"/>
            <a:ext cx="4728685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L’application web permet aux utilisateurs non techniques d’interagir avec le modèle et d’obtenir des prédictions instantanées.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64913" y="2128745"/>
            <a:ext cx="1188883" cy="80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53082" y="1250566"/>
            <a:ext cx="5340878" cy="2362528"/>
            <a:chOff x="0" y="0"/>
            <a:chExt cx="1223245" cy="541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3245" cy="541115"/>
            </a:xfrm>
            <a:custGeom>
              <a:avLst/>
              <a:gdLst/>
              <a:ahLst/>
              <a:cxnLst/>
              <a:rect r="r" b="b" t="t" l="l"/>
              <a:pathLst>
                <a:path h="541115" w="1223245">
                  <a:moveTo>
                    <a:pt x="1223245" y="21743"/>
                  </a:moveTo>
                  <a:lnTo>
                    <a:pt x="1223245" y="519371"/>
                  </a:lnTo>
                  <a:cubicBezTo>
                    <a:pt x="1223245" y="525138"/>
                    <a:pt x="1220954" y="530668"/>
                    <a:pt x="1216876" y="534746"/>
                  </a:cubicBezTo>
                  <a:cubicBezTo>
                    <a:pt x="1212799" y="538824"/>
                    <a:pt x="1207268" y="541115"/>
                    <a:pt x="1201501" y="541115"/>
                  </a:cubicBezTo>
                  <a:lnTo>
                    <a:pt x="21743" y="541115"/>
                  </a:lnTo>
                  <a:cubicBezTo>
                    <a:pt x="9735" y="541115"/>
                    <a:pt x="0" y="531380"/>
                    <a:pt x="0" y="51937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2324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926790"/>
            <a:ext cx="5340878" cy="2362528"/>
            <a:chOff x="0" y="0"/>
            <a:chExt cx="1223245" cy="5411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3245" cy="541115"/>
            </a:xfrm>
            <a:custGeom>
              <a:avLst/>
              <a:gdLst/>
              <a:ahLst/>
              <a:cxnLst/>
              <a:rect r="r" b="b" t="t" l="l"/>
              <a:pathLst>
                <a:path h="541115" w="1223245">
                  <a:moveTo>
                    <a:pt x="1223245" y="21743"/>
                  </a:moveTo>
                  <a:lnTo>
                    <a:pt x="1223245" y="519371"/>
                  </a:lnTo>
                  <a:cubicBezTo>
                    <a:pt x="1223245" y="525138"/>
                    <a:pt x="1220954" y="530668"/>
                    <a:pt x="1216876" y="534746"/>
                  </a:cubicBezTo>
                  <a:cubicBezTo>
                    <a:pt x="1212799" y="538824"/>
                    <a:pt x="1207268" y="541115"/>
                    <a:pt x="1201501" y="541115"/>
                  </a:cubicBezTo>
                  <a:lnTo>
                    <a:pt x="21743" y="541115"/>
                  </a:lnTo>
                  <a:cubicBezTo>
                    <a:pt x="9735" y="541115"/>
                    <a:pt x="0" y="531380"/>
                    <a:pt x="0" y="51937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073C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2324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43851" y="-1218305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8" y="0"/>
                </a:lnTo>
                <a:lnTo>
                  <a:pt x="1000298" y="6397252"/>
                </a:lnTo>
                <a:lnTo>
                  <a:pt x="0" y="639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43851" y="5108053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8" y="0"/>
                </a:lnTo>
                <a:lnTo>
                  <a:pt x="1000298" y="6397252"/>
                </a:lnTo>
                <a:lnTo>
                  <a:pt x="0" y="639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93528" y="1117216"/>
            <a:ext cx="5376049" cy="198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Perspectives&amp; Limites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353082" y="6289317"/>
            <a:ext cx="5340878" cy="2362528"/>
            <a:chOff x="0" y="0"/>
            <a:chExt cx="1223245" cy="5411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3245" cy="541115"/>
            </a:xfrm>
            <a:custGeom>
              <a:avLst/>
              <a:gdLst/>
              <a:ahLst/>
              <a:cxnLst/>
              <a:rect r="r" b="b" t="t" l="l"/>
              <a:pathLst>
                <a:path h="541115" w="1223245">
                  <a:moveTo>
                    <a:pt x="1223245" y="21743"/>
                  </a:moveTo>
                  <a:lnTo>
                    <a:pt x="1223245" y="519371"/>
                  </a:lnTo>
                  <a:cubicBezTo>
                    <a:pt x="1223245" y="525138"/>
                    <a:pt x="1220954" y="530668"/>
                    <a:pt x="1216876" y="534746"/>
                  </a:cubicBezTo>
                  <a:cubicBezTo>
                    <a:pt x="1212799" y="538824"/>
                    <a:pt x="1207268" y="541115"/>
                    <a:pt x="1201501" y="541115"/>
                  </a:cubicBezTo>
                  <a:lnTo>
                    <a:pt x="21743" y="541115"/>
                  </a:lnTo>
                  <a:cubicBezTo>
                    <a:pt x="9735" y="541115"/>
                    <a:pt x="0" y="531380"/>
                    <a:pt x="0" y="519371"/>
                  </a:cubicBezTo>
                  <a:lnTo>
                    <a:pt x="0" y="21743"/>
                  </a:lnTo>
                  <a:cubicBezTo>
                    <a:pt x="0" y="15977"/>
                    <a:pt x="2291" y="10446"/>
                    <a:pt x="6368" y="6368"/>
                  </a:cubicBezTo>
                  <a:cubicBezTo>
                    <a:pt x="10446" y="2291"/>
                    <a:pt x="15977" y="0"/>
                    <a:pt x="21743" y="0"/>
                  </a:cubicBezTo>
                  <a:lnTo>
                    <a:pt x="1201501" y="0"/>
                  </a:lnTo>
                  <a:cubicBezTo>
                    <a:pt x="1207268" y="0"/>
                    <a:pt x="1212799" y="2291"/>
                    <a:pt x="1216876" y="6368"/>
                  </a:cubicBezTo>
                  <a:cubicBezTo>
                    <a:pt x="1220954" y="10446"/>
                    <a:pt x="1223245" y="15977"/>
                    <a:pt x="1223245" y="21743"/>
                  </a:cubicBezTo>
                  <a:close/>
                </a:path>
              </a:pathLst>
            </a:custGeom>
            <a:solidFill>
              <a:srgbClr val="073C7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23245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747861" y="6550248"/>
            <a:ext cx="384308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Améliorations possibles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47861" y="7116033"/>
            <a:ext cx="4728685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Intégrer des données en temps réel, étendre à d’autres zones, améliorer l’interface et explorer des modèles avancés.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5400000">
            <a:off x="11697267" y="2674400"/>
            <a:ext cx="761070" cy="4867307"/>
          </a:xfrm>
          <a:custGeom>
            <a:avLst/>
            <a:gdLst/>
            <a:ahLst/>
            <a:cxnLst/>
            <a:rect r="r" b="b" t="t" l="l"/>
            <a:pathLst>
              <a:path h="4867307" w="761070">
                <a:moveTo>
                  <a:pt x="0" y="0"/>
                </a:moveTo>
                <a:lnTo>
                  <a:pt x="761070" y="0"/>
                </a:lnTo>
                <a:lnTo>
                  <a:pt x="761070" y="4867307"/>
                </a:lnTo>
                <a:lnTo>
                  <a:pt x="0" y="4867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5400000">
            <a:off x="16076639" y="2674400"/>
            <a:ext cx="761070" cy="4867307"/>
          </a:xfrm>
          <a:custGeom>
            <a:avLst/>
            <a:gdLst/>
            <a:ahLst/>
            <a:cxnLst/>
            <a:rect r="r" b="b" t="t" l="l"/>
            <a:pathLst>
              <a:path h="4867307" w="761070">
                <a:moveTo>
                  <a:pt x="0" y="0"/>
                </a:moveTo>
                <a:lnTo>
                  <a:pt x="761070" y="0"/>
                </a:lnTo>
                <a:lnTo>
                  <a:pt x="761070" y="4867307"/>
                </a:lnTo>
                <a:lnTo>
                  <a:pt x="0" y="4867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1515913" y="4176074"/>
            <a:ext cx="384308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Accessibilité et utilisation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4796" y="4670369"/>
            <a:ext cx="4728685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Données limitées à une zone spécifique et absence de flux en temps réel.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66203" y="1357386"/>
            <a:ext cx="482166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Variables temporelles dominantes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59179" y="1923171"/>
            <a:ext cx="4728685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modèle dépend fortement de l’heure, du jour et des jours fériés.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449455" y="-2373939"/>
            <a:ext cx="4442323" cy="4442323"/>
          </a:xfrm>
          <a:custGeom>
            <a:avLst/>
            <a:gdLst/>
            <a:ahLst/>
            <a:cxnLst/>
            <a:rect r="r" b="b" t="t" l="l"/>
            <a:pathLst>
              <a:path h="4442323" w="4442323">
                <a:moveTo>
                  <a:pt x="4442323" y="0"/>
                </a:moveTo>
                <a:lnTo>
                  <a:pt x="0" y="0"/>
                </a:lnTo>
                <a:lnTo>
                  <a:pt x="0" y="4442322"/>
                </a:lnTo>
                <a:lnTo>
                  <a:pt x="4442323" y="4442322"/>
                </a:lnTo>
                <a:lnTo>
                  <a:pt x="444232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85525" y="-745805"/>
            <a:ext cx="761070" cy="4867307"/>
          </a:xfrm>
          <a:custGeom>
            <a:avLst/>
            <a:gdLst/>
            <a:ahLst/>
            <a:cxnLst/>
            <a:rect r="r" b="b" t="t" l="l"/>
            <a:pathLst>
              <a:path h="4867307" w="761070">
                <a:moveTo>
                  <a:pt x="0" y="0"/>
                </a:moveTo>
                <a:lnTo>
                  <a:pt x="761069" y="0"/>
                </a:lnTo>
                <a:lnTo>
                  <a:pt x="761069" y="4867307"/>
                </a:lnTo>
                <a:lnTo>
                  <a:pt x="0" y="486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4974774" y="-745805"/>
            <a:ext cx="761070" cy="4867307"/>
          </a:xfrm>
          <a:custGeom>
            <a:avLst/>
            <a:gdLst/>
            <a:ahLst/>
            <a:cxnLst/>
            <a:rect r="r" b="b" t="t" l="l"/>
            <a:pathLst>
              <a:path h="4867307" w="761070">
                <a:moveTo>
                  <a:pt x="0" y="0"/>
                </a:moveTo>
                <a:lnTo>
                  <a:pt x="761070" y="0"/>
                </a:lnTo>
                <a:lnTo>
                  <a:pt x="761070" y="4867307"/>
                </a:lnTo>
                <a:lnTo>
                  <a:pt x="0" y="486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-10800000">
            <a:off x="14898637" y="6439307"/>
            <a:ext cx="4442323" cy="4442323"/>
          </a:xfrm>
          <a:custGeom>
            <a:avLst/>
            <a:gdLst/>
            <a:ahLst/>
            <a:cxnLst/>
            <a:rect r="r" b="b" t="t" l="l"/>
            <a:pathLst>
              <a:path h="4442323" w="4442323">
                <a:moveTo>
                  <a:pt x="4442323" y="0"/>
                </a:moveTo>
                <a:lnTo>
                  <a:pt x="0" y="0"/>
                </a:lnTo>
                <a:lnTo>
                  <a:pt x="0" y="4442323"/>
                </a:lnTo>
                <a:lnTo>
                  <a:pt x="4442323" y="4442323"/>
                </a:lnTo>
                <a:lnTo>
                  <a:pt x="444232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82473" y="2968307"/>
            <a:ext cx="13123054" cy="385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4"/>
              </a:lnSpc>
              <a:spcBef>
                <a:spcPct val="0"/>
              </a:spcBef>
            </a:pPr>
            <a:r>
              <a:rPr lang="en-US" b="true" sz="10224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DAG7fbplcOs</dc:identifier>
  <dcterms:modified xsi:type="dcterms:W3CDTF">2011-08-01T06:04:30Z</dcterms:modified>
  <cp:revision>1</cp:revision>
  <dc:title>TRAFFIC LENSE</dc:title>
</cp:coreProperties>
</file>